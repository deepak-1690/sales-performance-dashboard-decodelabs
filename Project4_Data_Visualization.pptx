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bubble3D val="0"/>
            <c:spPr>
              <a:solidFill>
                <a:srgbClr val="F0A38B"/>
              </a:solidFill>
              <a:effectLst/>
            </c:spPr>
          </c:dPt>
          <c:dPt>
            <c:idx val="2"/>
            <c:bubble3D val="0"/>
            <c:spPr>
              <a:solidFill>
                <a:srgbClr val="C9D6DE"/>
              </a:solidFill>
              <a:effectLst/>
            </c:spPr>
          </c:dPt>
          <c:dPt>
            <c:idx val="3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bubble3D val="0"/>
            <c:spPr>
              <a:solidFill>
                <a:srgbClr val="065A8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Cancelled</c:v>
                </c:pt>
                <c:pt idx="1">
                  <c:v>Returned</c:v>
                </c:pt>
                <c:pt idx="2">
                  <c:v>Pending</c:v>
                </c:pt>
                <c:pt idx="3">
                  <c:v>Shipped</c:v>
                </c:pt>
                <c:pt idx="4">
                  <c:v>Delivered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250</c:v>
                </c:pt>
                <c:pt idx="1">
                  <c:v>247</c:v>
                </c:pt>
                <c:pt idx="2">
                  <c:v>237</c:v>
                </c:pt>
                <c:pt idx="3">
                  <c:v>235</c:v>
                </c:pt>
                <c:pt idx="4">
                  <c:v>231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1295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Chair</c:v>
                  </c:pt>
                  <c:pt idx="1">
                    <c:v>Printer</c:v>
                  </c:pt>
                  <c:pt idx="2">
                    <c:v>Laptop</c:v>
                  </c:pt>
                  <c:pt idx="3">
                    <c:v>Tablet</c:v>
                  </c:pt>
                  <c:pt idx="4">
                    <c:v>Monitor</c:v>
                  </c:pt>
                  <c:pt idx="5">
                    <c:v>Desk</c:v>
                  </c:pt>
                  <c:pt idx="6">
                    <c:v>Phone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195620</c:v>
                </c:pt>
                <c:pt idx="1">
                  <c:v>195613</c:v>
                </c:pt>
                <c:pt idx="2">
                  <c:v>192127</c:v>
                </c:pt>
                <c:pt idx="3">
                  <c:v>186569</c:v>
                </c:pt>
                <c:pt idx="4">
                  <c:v>175651</c:v>
                </c:pt>
                <c:pt idx="5">
                  <c:v>167460</c:v>
                </c:pt>
                <c:pt idx="6">
                  <c:v>151722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Cancel/Return Rate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Email</c:v>
                  </c:pt>
                  <c:pt idx="1">
                    <c:v>Facebook</c:v>
                  </c:pt>
                  <c:pt idx="2">
                    <c:v>Referral</c:v>
                  </c:pt>
                  <c:pt idx="3">
                    <c:v>Google</c:v>
                  </c:pt>
                  <c:pt idx="4">
                    <c:v>Instagram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43.2</c:v>
                </c:pt>
                <c:pt idx="1">
                  <c:v>43</c:v>
                </c:pt>
                <c:pt idx="2">
                  <c:v>42.3</c:v>
                </c:pt>
                <c:pt idx="3">
                  <c:v>41.9</c:v>
                </c:pt>
                <c:pt idx="4">
                  <c:v>37.1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Jan-23</c:v>
                  </c:pt>
                  <c:pt idx="1">
                    <c:v>Feb-23</c:v>
                  </c:pt>
                  <c:pt idx="2">
                    <c:v>Mar-23</c:v>
                  </c:pt>
                  <c:pt idx="3">
                    <c:v>Apr-23</c:v>
                  </c:pt>
                  <c:pt idx="4">
                    <c:v>May-23</c:v>
                  </c:pt>
                  <c:pt idx="5">
                    <c:v>Jun-23</c:v>
                  </c:pt>
                  <c:pt idx="6">
                    <c:v>Jul-23</c:v>
                  </c:pt>
                  <c:pt idx="7">
                    <c:v>Aug-23</c:v>
                  </c:pt>
                  <c:pt idx="8">
                    <c:v>Sep-23</c:v>
                  </c:pt>
                  <c:pt idx="9">
                    <c:v>Oct-23</c:v>
                  </c:pt>
                  <c:pt idx="10">
                    <c:v>Nov-23</c:v>
                  </c:pt>
                  <c:pt idx="11">
                    <c:v>Dec-23</c:v>
                  </c:pt>
                  <c:pt idx="12">
                    <c:v>Jan-24</c:v>
                  </c:pt>
                  <c:pt idx="13">
                    <c:v>Feb-24</c:v>
                  </c:pt>
                  <c:pt idx="14">
                    <c:v>Mar-24</c:v>
                  </c:pt>
                  <c:pt idx="15">
                    <c:v>Apr-24</c:v>
                  </c:pt>
                  <c:pt idx="16">
                    <c:v>May-24</c:v>
                  </c:pt>
                  <c:pt idx="17">
                    <c:v>Jun-24</c:v>
                  </c:pt>
                  <c:pt idx="18">
                    <c:v>Jul-24</c:v>
                  </c:pt>
                  <c:pt idx="19">
                    <c:v>Aug-24</c:v>
                  </c:pt>
                  <c:pt idx="20">
                    <c:v>Sep-24</c:v>
                  </c:pt>
                  <c:pt idx="21">
                    <c:v>Oct-24</c:v>
                  </c:pt>
                  <c:pt idx="22">
                    <c:v>Nov-24</c:v>
                  </c:pt>
                  <c:pt idx="23">
                    <c:v>Dec-24</c:v>
                  </c:pt>
                  <c:pt idx="24">
                    <c:v>Jan-25</c:v>
                  </c:pt>
                  <c:pt idx="25">
                    <c:v>Feb-25</c:v>
                  </c:pt>
                  <c:pt idx="26">
                    <c:v>Mar-25</c:v>
                  </c:pt>
                  <c:pt idx="27">
                    <c:v>Apr-25</c:v>
                  </c:pt>
                  <c:pt idx="28">
                    <c:v>May-25</c:v>
                  </c:pt>
                  <c:pt idx="29">
                    <c:v>Jun-25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56686</c:v>
                </c:pt>
                <c:pt idx="1">
                  <c:v>40118</c:v>
                </c:pt>
                <c:pt idx="2">
                  <c:v>48609</c:v>
                </c:pt>
                <c:pt idx="3">
                  <c:v>27752</c:v>
                </c:pt>
                <c:pt idx="4">
                  <c:v>63837</c:v>
                </c:pt>
                <c:pt idx="5">
                  <c:v>49500</c:v>
                </c:pt>
                <c:pt idx="6">
                  <c:v>42821</c:v>
                </c:pt>
                <c:pt idx="7">
                  <c:v>54352</c:v>
                </c:pt>
                <c:pt idx="8">
                  <c:v>29527</c:v>
                </c:pt>
                <c:pt idx="9">
                  <c:v>52608</c:v>
                </c:pt>
                <c:pt idx="10">
                  <c:v>43080</c:v>
                </c:pt>
                <c:pt idx="11">
                  <c:v>43755</c:v>
                </c:pt>
                <c:pt idx="12">
                  <c:v>38528</c:v>
                </c:pt>
                <c:pt idx="13">
                  <c:v>36910</c:v>
                </c:pt>
                <c:pt idx="14">
                  <c:v>36031</c:v>
                </c:pt>
                <c:pt idx="15">
                  <c:v>49613</c:v>
                </c:pt>
                <c:pt idx="16">
                  <c:v>27909</c:v>
                </c:pt>
                <c:pt idx="17">
                  <c:v>68069</c:v>
                </c:pt>
                <c:pt idx="18">
                  <c:v>42964</c:v>
                </c:pt>
                <c:pt idx="19">
                  <c:v>31991</c:v>
                </c:pt>
                <c:pt idx="20">
                  <c:v>39795</c:v>
                </c:pt>
                <c:pt idx="21">
                  <c:v>37227</c:v>
                </c:pt>
                <c:pt idx="22">
                  <c:v>32414</c:v>
                </c:pt>
                <c:pt idx="23">
                  <c:v>38786</c:v>
                </c:pt>
                <c:pt idx="24">
                  <c:v>29099</c:v>
                </c:pt>
                <c:pt idx="25">
                  <c:v>35318</c:v>
                </c:pt>
                <c:pt idx="26">
                  <c:v>39201</c:v>
                </c:pt>
                <c:pt idx="27">
                  <c:v>31821</c:v>
                </c:pt>
                <c:pt idx="28">
                  <c:v>43397</c:v>
                </c:pt>
                <c:pt idx="29">
                  <c:v>53047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 ·  DATA VISUALIZATION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Noise to Signal: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1,200 Orders Reveal About Order Fulfillment Risk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Fulfillment Analysis  |  Jan 2023 – Jun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Glance: $1.26M Across 1,200 Orders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9A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$1.26M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Jun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9AB3C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337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 lines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9AB3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17373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9AB3C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32688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0" y="33375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Email, Google, Facebook, Referral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 volume are healthy and evenly spread — the real story is what happens after the sale.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Dataset_for_Data_Analytics.xlsx (n=1,200 orders)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 of Orders Are Cancelled or Returned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8288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6903720" y="1965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$519,674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903720" y="26060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revenue tied up in Cancelled or Returned orders — 41% of total revenue at risk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0" y="39319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19% of orders reach "Delivered." This isn't noise in one segment — it's a systemic fulfillment issue.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OrderStatus field, all 1,200 orders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Evenly Spread — No Single Product Is 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Product Mix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ranges just $44K top-to-bottom across 7 products (Chair $196K → Phone $152K) — mix isn't driving the return problem.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Product × TotalPrice, summed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and Facebook Traffic Convert to the Riskiest Orders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Acquisition Channel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373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AF2F5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874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37.1%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331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channel meaningfully outperforming the rest on order quality.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01000" y="3063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43.2%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01000" y="3520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problem rate — worth auditing email offers and targeting.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6-point spread between channels (37% → 43%) is real but modest — the ~41% baseline problem is company-wide, not channel-specific.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(Cancelled+Returned)/Total orders, by ReferralSource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Holds a Stable, Seasonal Rhythm — No Structural Decline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Trend Over Time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shows only 6 months of data (through June) — its lower total reflects a partial year, not a downturn.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TotalPrice summed by order month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What: Fix Fulfillment, Not Product or Marketing Mix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18745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fulfillment pipeline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41% cancel/return rate spans every product and channel — investigate checkout, payment, and shipping steps, not merchandising.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3291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$520K in exposed revenue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37360" y="374904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root-cause analysis on Cancelled orders first (250 orders, largest single bucket) before Returned orders.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54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47091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Instagram does differently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37360" y="516636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37.1% problem rate is the best of any channel — replicate its targeting or checkout path across Email and Facebook.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2026-07-16T13:05:28Z</dcterms:created>
  <dcterms:modified xsi:type="dcterms:W3CDTF">2026-07-16T13:05:28Z</dcterms:modified>
</cp:coreProperties>
</file>